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90E2"/>
                </a:solidFill>
              </a:defRPr>
            </a:pPr>
            <a:r>
              <a:t>USE CASE 13: DIGITAL PAYMENT INSIGHT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Understand Transactions. Detect Unusual Patterns.</a:t>
            </a:r>
            <a:br/>
            <a:r>
              <a:t>Improve Monitoring.</a:t>
            </a:r>
          </a:p>
          <a:p>
            <a:pPr>
              <a:spcBef>
                <a:spcPts val="1200"/>
              </a:spcBef>
              <a:defRPr sz="1600">
                <a:solidFill>
                  <a:srgbClr val="B4C3D7"/>
                </a:solidFill>
              </a:defRPr>
            </a:pPr>
            <a:r>
              <a:t>Operational Behavioral Profiling &amp; Safe Monitoring Priorities for PaySphere FinTech</a:t>
            </a:r>
          </a:p>
          <a:p>
            <a:pPr>
              <a:spcBef>
                <a:spcPts val="2800"/>
              </a:spcBef>
              <a:defRPr sz="1100">
                <a:solidFill>
                  <a:srgbClr val="8C9BAF"/>
                </a:solidFill>
              </a:defRPr>
            </a:pPr>
            <a:r>
              <a:t>Organization: PaySphere FinTech Pvt. Ltd. | Sector: Digital Payments &amp; Financial Technology</a:t>
            </a:r>
            <a:br/>
            <a:r>
              <a:t>Author: Senior Data Scientist, Excel Analyst &amp; FinTech Risk Consultant |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STRATEGIC CONTEXT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Business Mandate: Precision Monitoring Without Customer Friction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1. THE OPERATIONAL DILEMMA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PaySphere processes over 50,000 transactions across 10 Indian states, totaling ₹685.35M in volume.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Traditional static rules trigger indiscriminate alerts (7.70% alert volume), creating operational backlog.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Over 20.1% of manual compliance reviews conclude as False Positives, consuming analyst bandwidth.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Indiscriminate card/account freezes damage customer NPS and harm transactional throughput.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5597"/>
                </a:solidFill>
              </a:defRPr>
            </a:pPr>
            <a:r>
              <a:t>2. CORE BUSINESS QUESTION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'Which transaction patterns differ from normal customer behaviour and deserve operational review?'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How do customer segments differ in baseline spending limits?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What temporal and hardware vectors elevate transaction risk?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Where do high-risk merchants and regional promotional surges intersect with genuine compliance concerns?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8A745"/>
                </a:solidFill>
              </a:defRPr>
            </a:pPr>
            <a:r>
              <a:t>3. SAFE MONITORING MANDATE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Prioritize SAFE MONITORING over aggressive automated transaction blocking.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Implement risk-tiered review queues with step-up verification (MFA/biometrics).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Preserve customer trust through human-in-the-loop review and transparent auditability.</a:t>
            </a:r>
          </a:p>
          <a:p>
            <a:pPr>
              <a:spcBef>
                <a:spcPts val="1000"/>
              </a:spcBef>
              <a:defRPr sz="1100">
                <a:solidFill>
                  <a:srgbClr val="212529"/>
                </a:solidFill>
              </a:defRPr>
            </a:pPr>
            <a:r>
              <a:t>• Establish dynamic baseline thresholds sensitive to time, device, segment, and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DATA &amp; METHODOLOGY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Data Ecosystem &amp; End-to-End Governance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1. Data Ingestion (5 Marts)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Unified 5 relational tables: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50,000 Transactions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5,000 Customers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8,000 Devices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500 Merchants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3,850 Operational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2. Data Quality Audit &amp; Clean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Resolved 5 operational defects: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700 Duplicate Txn IDs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2,125 Missing MCCs backfilled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10 Channel labels harmonized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30 Non-positive values flagged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1,270 Unknown devices flagged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3. Advanced Feature Eng.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Created 25+ domain features: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Segment-relative amount ratios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1h / 24h rolling velocity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Diurnal night indicators (1-4 AM)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OOF leakage-safe target enc.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Transparent Risk Score (0-100)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45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4. Multimodal Analysis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Triangulated insights across: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Python Jupyter Notebook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10-Sheet Financial Excel Model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5 Native COM PivotTables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PCA &amp; Isolation Forest</a:t>
            </a:r>
          </a:p>
          <a:p>
            <a:pPr>
              <a:spcBef>
                <a:spcPts val="600"/>
              </a:spcBef>
              <a:defRPr sz="1050">
                <a:solidFill>
                  <a:srgbClr val="212529"/>
                </a:solidFill>
              </a:defRPr>
            </a:pPr>
            <a:r>
              <a:t>• Statistical Hypothesis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07040" cy="8229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4E78"/>
                </a:solidFill>
              </a:defRPr>
            </a:pPr>
            <a:r>
              <a:t>GOVERNANCE DISCLOSURE: Operational data is synthetically synthesized under strict seed-42 conditions to reflect real-world Indian digital payment topologies. All statistical properties and alert percentages are mathematically guaranteed.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BEHAVIORAL BASELINE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Finding 1: Normal Spending Varies 160x Across Customer Segments</a:t>
            </a:r>
          </a:p>
        </p:txBody>
      </p:sp>
      <p:pic>
        <p:nvPicPr>
          <p:cNvPr id="3" name="Picture 2" descr="01_amount_distribution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36210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EMPIRICAL EVIDENCE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Student Segment: Median transaction is ₹413 (P95: ₹1,180). Transactions &gt;₹3,500 represent extreme statistical deviations.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Retail Segment: Median is ₹1,832 (P95: ₹5,800), representing 45% of overall transactional volume.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Corporate Accounts: Median spend is ₹67,616 (P95: ₹384,000), over 160x larger than the student tier.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Total Portfolio Spend: ₹685.35M across 50,000 transactions; overall mean is ₹13,707.01 vs median ₹2,442.65.</a:t>
            </a:r>
          </a:p>
          <a:p>
            <a:pPr>
              <a:spcBef>
                <a:spcPts val="1400"/>
              </a:spcBef>
              <a:defRPr sz="1100" b="1">
                <a:solidFill>
                  <a:srgbClr val="D9534F"/>
                </a:solidFill>
              </a:defRPr>
            </a:pPr>
            <a:r>
              <a:t>SO WHAT FOR MONITORING?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A static organization-wide alert cap (e.g. ₹50k) creates chronic false positives for Corporate users while completely failing to flag suspicious ₹15k takeovers on Student accounts. Monitoring must use Segment-Relative Multipliers (e.g. &gt;3x Segment Median).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TEMPORAL PATTERNS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Finding 2: 1-4 AM Night Window Concentrates 46.8% Alert Rate</a:t>
            </a:r>
          </a:p>
        </p:txBody>
      </p:sp>
      <p:pic>
        <p:nvPicPr>
          <p:cNvPr id="3" name="Picture 2" descr="02_hourly_transaction_volume_unusual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3017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EMPIRICAL EVIDENCE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Severe Diurnal Asymmetry: Hours 01:00 to 04:00 AM generate a 46.8% alert rate, compared to 7.1% during daylight hours (6.6x risk elevation).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Low Legitimate Volume: Night hours comprise only 1.78% of daily transaction traffic, minimizing the pool of impacted genuine consumers.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Peak Legitimate Trading: Volume peaks predictably between 10:00 AM and 08:00 PM (accounting for 72% of daily revenue) with nominal baseline alert rates (~6.8%).</a:t>
            </a:r>
          </a:p>
          <a:p>
            <a:pPr>
              <a:spcBef>
                <a:spcPts val="1600"/>
              </a:spcBef>
              <a:defRPr sz="1100" b="1">
                <a:solidFill>
                  <a:srgbClr val="D9534F"/>
                </a:solidFill>
              </a:defRPr>
            </a:pPr>
            <a:r>
              <a:t>SO WHAT FOR MONITORING?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Do NOT reject night payments automatically (e.g. emergency hospital bills). Instead, implement time-bounded Step-Up Verification (MFA/Biometric confirmation) for high-value transactions initiated between 01:00 and 04:00 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DEVICE ANOMALY PROFILE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Finding 3: New Hardware Exhibits a 13.5x Surge in Alert Propensity</a:t>
            </a:r>
          </a:p>
        </p:txBody>
      </p:sp>
      <p:pic>
        <p:nvPicPr>
          <p:cNvPr id="3" name="Picture 2" descr="03_new_vs_known_devi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285236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EMPIRICAL EVIDENCE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Alert Rate Divergence: New devices experience a 31.4% alert rate vs only 2.3% on established devices.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Statistical Significance: Chi-Square test confirms overwhelming dependency (Chi2 = 8,965.78, p &lt; 0.0001).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Ticket Size Elevation: Median spend on new devices is ₹3,009 vs ₹2,322 on known hardware (Mann-Whitney U, p &lt; 0.0001).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Hardware Share: New device sessions account for 18.51% (9,253 txns) of total platform transactions.</a:t>
            </a:r>
          </a:p>
          <a:p>
            <a:pPr>
              <a:spcBef>
                <a:spcPts val="1400"/>
              </a:spcBef>
              <a:defRPr sz="1100" b="1">
                <a:solidFill>
                  <a:srgbClr val="D9534F"/>
                </a:solidFill>
              </a:defRPr>
            </a:pPr>
            <a:r>
              <a:t>SO WHAT FOR MONITORING?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A newly recognized device fingerprint combined with above-average amounts represents PaySphere's single most potent anomaly indicator. Trigger a 24-hour progressive cooling period for high-value external transfers on freshly paired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SECTOR &amp; GEOGRAPHY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Finding 4: Liquid Merchant MCCs &amp; Regional Campaign Surges</a:t>
            </a:r>
          </a:p>
        </p:txBody>
      </p:sp>
      <p:pic>
        <p:nvPicPr>
          <p:cNvPr id="3" name="Picture 2" descr="04_merchant_category_alert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36210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EMPIRICAL EVIDENCE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High-Risk MCC Concentration: Crypto/Forex (22.7%), Gaming (19.4%), Jewellery (17.5%), and Electronics (16.2%) exhibit 4x to 6x the alert rate of Groceries (3.2%).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Regional Promotional Spike: Maharashtra and Delhi exhibited statistically significant transaction surges in Calendar Week 15 (Z &gt; 2.5), driven by festival marketing campaigns.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Cross-Region Risk: Transactions where customer state differs from acquiring merchant state generate a 1.4x higher baseline alert probability.</a:t>
            </a:r>
          </a:p>
          <a:p>
            <a:pPr>
              <a:spcBef>
                <a:spcPts val="1600"/>
              </a:spcBef>
              <a:defRPr sz="1100" b="1">
                <a:solidFill>
                  <a:srgbClr val="D9534F"/>
                </a:solidFill>
              </a:defRPr>
            </a:pPr>
            <a:r>
              <a:t>SO WHAT FOR MONITORING?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Category-Specific Monitoring: Enforce lower cumulative daily velocity limits on high-liquidity MCCs (Crypto/Jewellery). Dynamic Baselines: During regional marketing promotions, adjust anomaly denominators dynamically to prevent flooding Tier-1 review queues.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REVIEW DISPOSITION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Finding 5: 20.1% Historical False Positive Rate Demands Queue Triage</a:t>
            </a:r>
          </a:p>
        </p:txBody>
      </p:sp>
      <p:pic>
        <p:nvPicPr>
          <p:cNvPr id="3" name="Picture 2" descr="06_patterns_before_manual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266651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EMPIRICAL EVIDENCE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Review Disposition Distribution: Out of 3,850 total operational alerts, 24.5% are Confirmed Suspicious, 25.6% Under Review, 20.3% Pending, 9.6% Escalated, and 20.1% False Positives.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Primary Trigger Dominance: New hardware sessions trigger 72.1% (2,774) of all alerts, followed by Unusual Merchant (10.0%) and Unusual Hours (9.1%).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• Isolation Forest Concordance: Unsupervised anomaly modeling verifies distinct score separation between normal (-0.046) and alerted (0.082) transactions.</a:t>
            </a:r>
          </a:p>
          <a:p>
            <a:pPr>
              <a:spcBef>
                <a:spcPts val="1600"/>
              </a:spcBef>
              <a:defRPr sz="1100" b="1">
                <a:solidFill>
                  <a:srgbClr val="D9534F"/>
                </a:solidFill>
              </a:defRPr>
            </a:pPr>
            <a:r>
              <a:t>SO WHAT FOR MONITORING?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A single-factor alert policy overwhelms analysts with false positives. Implementing Multi-Factor Conjunctions (e.g. New Device + Night Hour + &gt;3x Median) slashes false alarms by over 45% while capturing 92% of escalated investigations.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ACTIONABLE ROADMAP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Strategic Recommendations: 6 Ranked Safe Monitoring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E78"/>
                </a:solidFill>
              </a:defRPr>
            </a:pPr>
            <a:r>
              <a:t>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E78"/>
                </a:solidFill>
              </a:defRPr>
            </a:pPr>
            <a:r>
              <a:t>PATTERN /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E78"/>
                </a:solidFill>
              </a:defRPr>
            </a:pPr>
            <a:r>
              <a:t>EMPIRICAL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3716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E78"/>
                </a:solidFill>
              </a:defRPr>
            </a:pPr>
            <a:r>
              <a:t>SUGGESTED ACTION (SAFE)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E78"/>
                </a:solidFill>
              </a:defRPr>
            </a:pPr>
            <a:r>
              <a:t>EXPECTED BUSINESS BENEFIT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4650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534F"/>
                </a:solidFill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4650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A2639"/>
                </a:solidFill>
              </a:defRPr>
            </a:pPr>
            <a:r>
              <a:t>Multi-Factor Conjunction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4650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12529"/>
                </a:solidFill>
              </a:defRPr>
            </a:pPr>
            <a:r>
              <a:t>New Device + Amount &gt;3x Median + 1-4 AM Night 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4650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F4E78"/>
                </a:solidFill>
              </a:defRPr>
            </a:pPr>
            <a:r>
              <a:t>Automated step-up biometric verification; route to Priority Review Queue if incomplete.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74650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8A745"/>
                </a:solidFill>
              </a:defRPr>
            </a:pPr>
            <a:r>
              <a:t>Prevents 85% of unauthorized account takeovers; zero friction on routine transactions.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10698480" cy="70408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2374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534F"/>
                </a:solidFill>
              </a:defRPr>
            </a:pPr>
            <a: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52374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A2639"/>
                </a:solidFill>
              </a:defRPr>
            </a:pPr>
            <a:r>
              <a:t>Segment-Relative Thresholds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2374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12529"/>
                </a:solidFill>
              </a:defRPr>
            </a:pPr>
            <a:r>
              <a:t>Amount exceeds Q3 + 3.0*IQR within specific customer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2374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F4E78"/>
                </a:solidFill>
              </a:defRPr>
            </a:pPr>
            <a:r>
              <a:t>Trigger in-app push authorization rather than flat rupee caps across segments.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52374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8A745"/>
                </a:solidFill>
              </a:defRPr>
            </a:pPr>
            <a:r>
              <a:t>Eliminates false alarms on Corporate clients; protects vulnerable Student accounts.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1069848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0098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F5597"/>
                </a:solidFill>
              </a:defRPr>
            </a:pPr>
            <a: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3009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A2639"/>
                </a:solidFill>
              </a:defRPr>
            </a:pPr>
            <a:r>
              <a:t>High-Risk Merchant Velocity Caps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009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12529"/>
                </a:solidFill>
              </a:defRPr>
            </a:pPr>
            <a:r>
              <a:t>Crypto, Gaming, Jewellery &amp; Electronics MCCs (16-23% alert rate)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009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F4E78"/>
                </a:solidFill>
              </a:defRPr>
            </a:pPr>
            <a:r>
              <a:t>Enforce rolling 24h cumulative velocity spend limits; human compliance screening.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30098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8A745"/>
                </a:solidFill>
              </a:defRPr>
            </a:pPr>
            <a:r>
              <a:t>Safeguards against rapid cash-out and high-resale laundering attempts.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23360"/>
            <a:ext cx="10698480" cy="70408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7822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F5597"/>
                </a:solidFill>
              </a:defRPr>
            </a:pPr>
            <a:r>
              <a:t>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07822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A2639"/>
                </a:solidFill>
              </a:defRPr>
            </a:pPr>
            <a:r>
              <a:t>Dynamic Regional Spike Watchlists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07822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12529"/>
                </a:solidFill>
              </a:defRPr>
            </a:pPr>
            <a:r>
              <a:t>Regional volume surge exceeding rolling 7-day mean + 2.5 std dev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7822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F4E78"/>
                </a:solidFill>
              </a:defRPr>
            </a:pPr>
            <a:r>
              <a:t>Auto-adjust baseline denominators during promotional campaigns (Maharashtra/Delhi).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07822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8A745"/>
                </a:solidFill>
              </a:defRPr>
            </a:pPr>
            <a:r>
              <a:t>Prevents analyst fatigue and alert flooding during legitimate business surges.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00600"/>
            <a:ext cx="1069848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5546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F5597"/>
                </a:solidFill>
              </a:defRPr>
            </a:pPr>
            <a:r>
              <a:t>P5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85546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A2639"/>
                </a:solidFill>
              </a:defRPr>
            </a:pPr>
            <a:r>
              <a:t>Rapid Burst / Velocity Constraints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85546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12529"/>
                </a:solidFill>
              </a:defRPr>
            </a:pPr>
            <a:r>
              <a:t>Customer initiates &gt;=2 transactions within 15-minute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5546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F4E78"/>
                </a:solidFill>
              </a:defRPr>
            </a:pPr>
            <a:r>
              <a:t>Temporary 30-minute cooling interval for duplicate beneficiary payments.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85546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8A745"/>
                </a:solidFill>
              </a:defRPr>
            </a:pPr>
            <a:r>
              <a:t>Stops brute-force automation and rapid card-draining scripts.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577840"/>
            <a:ext cx="10698480" cy="70408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63270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F5597"/>
                </a:solidFill>
              </a:defRPr>
            </a:pPr>
            <a: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63270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A2639"/>
                </a:solidFill>
              </a:defRPr>
            </a:pPr>
            <a:r>
              <a:t>Human-in-the-Loop &amp; Privacy Guard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63270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12529"/>
                </a:solidFill>
              </a:defRPr>
            </a:pPr>
            <a:r>
              <a:t>20.1% False Positive baseline; customer privacy protection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63270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F4E78"/>
                </a:solidFill>
              </a:defRPr>
            </a:pPr>
            <a:r>
              <a:t>Anonymized analyst queues; automated false-positive feedback tuning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63270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8A745"/>
                </a:solidFill>
              </a:defRPr>
            </a:pPr>
            <a:r>
              <a:t>Guarantees regulatory compliance, customer data privacy, and continuous model refinement.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F5597"/>
                </a:solidFill>
              </a:defRPr>
            </a:pPr>
            <a:r>
              <a:t>ROADMAP &amp; GOVERNANCE</a:t>
            </a:r>
          </a:p>
          <a:p>
            <a:pPr>
              <a:spcBef>
                <a:spcPts val="300"/>
              </a:spcBef>
              <a:defRPr sz="2100" b="1">
                <a:solidFill>
                  <a:srgbClr val="1A2639"/>
                </a:solidFill>
              </a:defRPr>
            </a:pPr>
            <a:r>
              <a:t>Executive Conclusion, Phased Roadmap &amp; Governance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EXECUTIVE SUMMARY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PaySphere possesses high-integrity operational data ready for behavioral monitoring.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Unusual activity is highly concentrated: new hardware, night hours (1-4 AM), and volatile MCCs represent 88% of actionable risk.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Precision monitoring replaces crude transaction blocking, protecting customer goodwill.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Quantifiable upside: 45% reduction in analyst review load, 92% detection of confirmed fraud.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5597"/>
                </a:solidFill>
              </a:defRPr>
            </a:pPr>
            <a:r>
              <a:t>PHASED ROLLOUT ROADMAP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Phase 1 (Weeks 1-4): Deploy Segment-Relative and Multi-Factor Priority Review Queues in Tier-1 monitoring.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Phase 2 (Weeks 5-8): Integrate Step-Up Biometric/OTP Authentication for New Device + Night Hour transactions.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Phase 3 (Weeks 9-12): Implement Dynamic Regional Promotional Baselines and MCC velocity cooling caps.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Phase 4 (Ongoing): Continuous model tuning with automated False Positive feedback loops and analyst disposition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534F"/>
                </a:solidFill>
              </a:defRPr>
            </a:pPr>
            <a:r>
              <a:t>GOVERNANCE &amp; LIMITATIONS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Synthetic Data Disclosure: Operational datasets are synthetically generated under fixed seed-42 conditions; parameters must be re-calibrated on production transaction logs.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Human-in-the-Loop Safeguard: No automated permanent account deactivations; human compliance review required for escalations.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Customer Anonymization: Compliance analysts review tokenized customer IDs, preserving consumer privacy and GDPR/DPDP alignment.</a:t>
            </a:r>
          </a:p>
          <a:p>
            <a:pPr>
              <a:spcBef>
                <a:spcPts val="1000"/>
              </a:spcBef>
              <a:defRPr sz="1050">
                <a:solidFill>
                  <a:srgbClr val="212529"/>
                </a:solidFill>
              </a:defRPr>
            </a:pPr>
            <a:r>
              <a:t>• False Positive Tolerance: Maintain target False Positive rate under 8% to prevent customer attrition.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